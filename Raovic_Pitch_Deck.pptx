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0256B"/>
            </a:gs>
            <a:gs pos="100000">
              <a:srgbClr val="8E568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BF1F6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82880"/>
            <a:ext cx="2743200" cy="2743200"/>
          </a:xfrm>
          <a:prstGeom prst="ellipse">
            <a:avLst/>
          </a:prstGeom>
          <a:solidFill>
            <a:srgbClr val="6A2F85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4572000"/>
            <a:ext cx="3200400" cy="3200400"/>
          </a:xfrm>
          <a:prstGeom prst="ellipse">
            <a:avLst/>
          </a:prstGeom>
          <a:solidFill>
            <a:srgbClr val="3E1455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94560"/>
            <a:ext cx="2043684" cy="292608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ource Sans 3"/>
              </a:rPr>
              <a:t>PREZENTACIJA PROJEKTA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Roboto"/>
              </a:rPr>
              <a:t>Ordinacija Raović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977639"/>
            <a:ext cx="274320" cy="32004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DEEF"/>
                </a:solidFill>
                <a:latin typeface="Source Sans 3"/>
              </a:rPr>
              <a:t>Moderan web sajt za ginekološku ordinaciju · Beograd, Vračar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3A1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98B8"/>
                </a:solidFill>
                <a:latin typeface="Source Sans 3"/>
              </a:rPr>
              <a:t>raovic.rs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2910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8B8"/>
                </a:solidFill>
                <a:latin typeface="Source Sans 3"/>
              </a:rPr>
              <a:t>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645920"/>
            <a:ext cx="2743200" cy="4114800"/>
          </a:xfrm>
          <a:prstGeom prst="rect">
            <a:avLst/>
          </a:prstGeom>
          <a:solidFill>
            <a:srgbClr val="3E1455"/>
          </a:solidFill>
          <a:ln w="12700">
            <a:solidFill>
              <a:srgbClr val="8045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78C0"/>
                </a:solidFill>
                <a:latin typeface="Source Sans 3"/>
              </a:rPr>
              <a:t>[ Mockup
sajta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114800"/>
            <a:ext cx="3200400" cy="3200400"/>
          </a:xfrm>
          <a:prstGeom prst="ellipse">
            <a:avLst/>
          </a:prstGeom>
          <a:solidFill>
            <a:srgbClr val="8E568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-457200"/>
            <a:ext cx="2011680" cy="2011680"/>
          </a:xfrm>
          <a:prstGeom prst="ellipse">
            <a:avLst/>
          </a:prstGeom>
          <a:solidFill>
            <a:srgbClr val="BF1F6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57884"/>
            <a:ext cx="182880" cy="201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80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ource Sans 3"/>
              </a:rPr>
              <a:t>O PROJEKTU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Roboto"/>
              </a:rPr>
              <a:t>Šta smo
napravili?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DEEF"/>
                </a:solidFill>
                <a:latin typeface="Source Sans 3"/>
              </a:rPr>
              <a:t>Kompletan web sajt sa modernim dizajnom, sistemom zakazivanja i svim informacijama o ordinaciji.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519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Roboto"/>
              </a:rPr>
              <a:t>20+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28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98C8"/>
                </a:solidFill>
                <a:latin typeface="Source Sans 3"/>
              </a:rPr>
              <a:t>godina iskustva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42519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4828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98C8"/>
                </a:solidFill>
                <a:latin typeface="Source Sans 3"/>
              </a:rPr>
              <a:t>stranica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42519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4828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98C8"/>
                </a:solidFill>
                <a:latin typeface="Source Sans 3"/>
              </a:rPr>
              <a:t>booking sistem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777240"/>
            <a:ext cx="6675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777240"/>
            <a:ext cx="6675120" cy="50292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9144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256B"/>
                </a:solidFill>
                <a:latin typeface="Roboto"/>
              </a:rPr>
              <a:t>Višestranični sajt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25272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6 stranica: početna, o nama, usluge, tim, kontakt, cenovnik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1874520"/>
            <a:ext cx="6675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874520"/>
            <a:ext cx="6675120" cy="50292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01168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256B"/>
                </a:solidFill>
                <a:latin typeface="Roboto"/>
              </a:rPr>
              <a:t>Booking wizard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35000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3-koračni modal: usluga → termin → potvrda sa cenom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2971800"/>
            <a:ext cx="6675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74920" y="2971800"/>
            <a:ext cx="6675120" cy="50292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10896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256B"/>
                </a:solidFill>
                <a:latin typeface="Roboto"/>
              </a:rPr>
              <a:t>Responzivan dizajn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44728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Desktop, tablet i mobilni — prilagođen svim ekranima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4069080"/>
            <a:ext cx="6675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4069080"/>
            <a:ext cx="6675120" cy="50292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420624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256B"/>
                </a:solidFill>
                <a:latin typeface="Roboto"/>
              </a:rPr>
              <a:t>Brand identitet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454456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Dizajn sistem sa bojama, tipografijom i komponentama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5166360"/>
            <a:ext cx="6675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5166360"/>
            <a:ext cx="6675120" cy="50292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530352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256B"/>
                </a:solidFill>
                <a:latin typeface="Roboto"/>
              </a:rPr>
              <a:t>Tim &amp; sadržaj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564184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Svi doktori, specijalisti, osoblje i stručni saradnici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53212"/>
            <a:ext cx="182880" cy="20116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" y="4754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F1F6F"/>
                </a:solidFill>
                <a:latin typeface="Source Sans 3"/>
              </a:rPr>
              <a:t>POČETNA STRANICA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0256B"/>
                </a:solidFill>
                <a:latin typeface="Roboto"/>
              </a:rPr>
              <a:t>Hero, usluge, tim &amp; FAQ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914400" cy="32004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3566160" cy="50292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2011680"/>
            <a:ext cx="228600" cy="228600"/>
          </a:xfrm>
          <a:prstGeom prst="ellipse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842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Hero sekcija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Animirani gradient, naslov, CTA dugmad, trust badges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1" y="18288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1" y="1828800"/>
            <a:ext cx="3566160" cy="50292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59" y="2011680"/>
            <a:ext cx="228600" cy="228600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19" y="19842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Usluge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48716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6 karti usluga sa ikonama, cenama i zakazivanjem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0182" y="18288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0182" y="1828800"/>
            <a:ext cx="3566160" cy="50292"/>
          </a:xfrm>
          <a:prstGeom prst="rect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31350" y="2011680"/>
            <a:ext cx="228600" cy="228600"/>
          </a:xfrm>
          <a:prstGeom prst="ellipse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0" y="19842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3 info kartice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0" y="248716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Oblast spec., lokacija na mapi, diskrecija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97764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977640"/>
            <a:ext cx="3566160" cy="50292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" y="4160520"/>
            <a:ext cx="228600" cy="228600"/>
          </a:xfrm>
          <a:prstGeom prst="ellipse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2728" y="41330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Zašto Raović?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63600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4 vrednosti na talasnoj liniji sa ikonama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7991" y="397764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07991" y="3977640"/>
            <a:ext cx="3566160" cy="50292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09159" y="4160520"/>
            <a:ext cx="228600" cy="228600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19" y="41330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FAQ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463600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Accordion sa gradijentnim karticama pitanja/odgovora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30182" y="397764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0182" y="3977640"/>
            <a:ext cx="3566160" cy="50292"/>
          </a:xfrm>
          <a:prstGeom prst="rect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31350" y="4160520"/>
            <a:ext cx="228600" cy="228600"/>
          </a:xfrm>
          <a:prstGeom prst="ellipse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97110" y="41330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CTA band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0" y="463600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4F68"/>
                </a:solidFill>
                <a:latin typeface="Source Sans 3"/>
              </a:rPr>
              <a:t>Poziv na akciju sa gradient pozadinom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0256B"/>
            </a:gs>
            <a:gs pos="100000">
              <a:srgbClr val="6A2F85"/>
            </a:gs>
          </a:gsLst>
          <a:lin scaled="0" ang="126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3200400"/>
            <a:ext cx="4572000" cy="4572000"/>
          </a:xfrm>
          <a:prstGeom prst="ellipse">
            <a:avLst/>
          </a:prstGeom>
          <a:solidFill>
            <a:srgbClr val="BF1F6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8E568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640080"/>
            <a:ext cx="2121408" cy="292608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ource Sans 3"/>
              </a:rPr>
              <a:t>KLJUČNA FUNKCIONALNOST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Roboto"/>
              </a:rPr>
              <a:t>Online zakazivanje
u 3 koraka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DEEF"/>
                </a:solidFill>
                <a:latin typeface="Source Sans 3"/>
              </a:rPr>
              <a:t>Pacijentkinja bira uslugu, termin i dobija potvrdu — sve bez telefona.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00400"/>
            <a:ext cx="3429000" cy="31089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3474720"/>
            <a:ext cx="502920" cy="502920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Roboto"/>
              </a:rPr>
              <a:t>Odaberi uslugu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7 ginekoloških usluga
sa prikazom cene i
trajanja pregleda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4805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F1F6F"/>
                </a:solidFill>
                <a:latin typeface="Source Sans 3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4568" y="3200400"/>
            <a:ext cx="3429000" cy="31089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73168" y="3474720"/>
            <a:ext cx="502920" cy="502920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Roboto"/>
              </a:rPr>
              <a:t>Odaberi termin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4663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Kalendar slobodnih
terminima — brz i
pregledان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4805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F1F6F"/>
                </a:solidFill>
                <a:latin typeface="Source Sans 3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11896" y="3200400"/>
            <a:ext cx="3429000" cy="31089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0496" y="3474720"/>
            <a:ext cx="502920" cy="502920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Roboto"/>
              </a:rPr>
              <a:t>Potvrdi rezervaciju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4663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Pregled usluge, termina
i cene pre slanja
zahteva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53212"/>
            <a:ext cx="182880" cy="20116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4754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F1F6F"/>
                </a:solidFill>
                <a:latin typeface="Source Sans 3"/>
              </a:rPr>
              <a:t>VIZUELNI IDENTITET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0256B"/>
                </a:solidFill>
                <a:latin typeface="Roboto"/>
              </a:rPr>
              <a:t>Dizajn sistem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914400" cy="32004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4F68"/>
                </a:solidFill>
                <a:latin typeface="Source Sans 3"/>
              </a:rPr>
              <a:t>PALETA BOJA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84831"/>
            <a:ext cx="1353312" cy="1051560"/>
          </a:xfrm>
          <a:prstGeom prst="rect">
            <a:avLst/>
          </a:prstGeom>
          <a:solidFill>
            <a:srgbClr val="50256B"/>
          </a:solidFill>
          <a:ln w="6350">
            <a:solidFill>
              <a:srgbClr val="D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18687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50256B"/>
                </a:solidFill>
                <a:latin typeface="Source Sans 3"/>
              </a:rPr>
              <a:t>#50256B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9583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F68"/>
                </a:solidFill>
                <a:latin typeface="Source Sans 3"/>
              </a:rPr>
              <a:t>Purple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8568" y="2084831"/>
            <a:ext cx="1353312" cy="1051560"/>
          </a:xfrm>
          <a:prstGeom prst="rect">
            <a:avLst/>
          </a:prstGeom>
          <a:solidFill>
            <a:srgbClr val="8E568F"/>
          </a:solidFill>
          <a:ln w="6350">
            <a:solidFill>
              <a:srgbClr val="D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3218687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50256B"/>
                </a:solidFill>
                <a:latin typeface="Source Sans 3"/>
              </a:rPr>
              <a:t>#8E568F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3529583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F68"/>
                </a:solidFill>
                <a:latin typeface="Source Sans 3"/>
              </a:rPr>
              <a:t>Lilac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1336" y="2084831"/>
            <a:ext cx="1353312" cy="1051560"/>
          </a:xfrm>
          <a:prstGeom prst="rect">
            <a:avLst/>
          </a:prstGeom>
          <a:solidFill>
            <a:srgbClr val="BF1F6F"/>
          </a:solidFill>
          <a:ln w="6350">
            <a:solidFill>
              <a:srgbClr val="D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6" y="3218687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50256B"/>
                </a:solidFill>
                <a:latin typeface="Source Sans 3"/>
              </a:rPr>
              <a:t>#BF1F6F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6" y="3529583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F68"/>
                </a:solidFill>
                <a:latin typeface="Source Sans 3"/>
              </a:rPr>
              <a:t>Pink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4104" y="2084831"/>
            <a:ext cx="1353312" cy="1051560"/>
          </a:xfrm>
          <a:prstGeom prst="rect">
            <a:avLst/>
          </a:prstGeom>
          <a:solidFill>
            <a:srgbClr val="F7DEEF"/>
          </a:solidFill>
          <a:ln w="6350">
            <a:solidFill>
              <a:srgbClr val="D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3218687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50256B"/>
                </a:solidFill>
                <a:latin typeface="Source Sans 3"/>
              </a:rPr>
              <a:t>#F7DEEF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3529583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4F68"/>
                </a:solidFill>
                <a:latin typeface="Source Sans 3"/>
              </a:rPr>
              <a:t>Light Pink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383280"/>
            <a:ext cx="6035040" cy="32004"/>
          </a:xfrm>
          <a:prstGeom prst="rect">
            <a:avLst/>
          </a:prstGeom>
          <a:solidFill>
            <a:srgbClr val="EA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4F68"/>
                </a:solidFill>
                <a:latin typeface="Source Sans 3"/>
              </a:rPr>
              <a:t>TIPOGRAFIJA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58768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858768"/>
            <a:ext cx="2743200" cy="50292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005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256B"/>
                </a:solidFill>
                <a:latin typeface="Roboto"/>
              </a:rPr>
              <a:t>Roboto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3891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4F68"/>
                </a:solidFill>
                <a:latin typeface="Source Sans 3"/>
              </a:rPr>
              <a:t>700 / 900 · Naslovi, display, dugmad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3858768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03320" y="3858768"/>
            <a:ext cx="2743200" cy="50292"/>
          </a:xfrm>
          <a:prstGeom prst="rect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04488" y="4005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256B"/>
                </a:solidFill>
                <a:latin typeface="Source Sans 3"/>
              </a:rPr>
              <a:t>Source Sans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4488" y="43891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4F68"/>
                </a:solidFill>
                <a:latin typeface="Source Sans 3"/>
              </a:rPr>
              <a:t>400 / 600 / 700 · Body tekst, opisi,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956048"/>
            <a:ext cx="6035040" cy="32004"/>
          </a:xfrm>
          <a:prstGeom prst="rect">
            <a:avLst/>
          </a:prstGeom>
          <a:solidFill>
            <a:srgbClr val="EA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840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4F68"/>
                </a:solidFill>
                <a:latin typeface="Source Sans 3"/>
              </a:rPr>
              <a:t>KOMPONENTE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477256"/>
            <a:ext cx="91440" cy="91440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3949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0E1F"/>
                </a:solidFill>
                <a:latin typeface="Source Sans 3"/>
              </a:rPr>
              <a:t>Booking modal · 3-koračni wizard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5477256"/>
            <a:ext cx="91440" cy="91440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53949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0E1F"/>
                </a:solidFill>
                <a:latin typeface="Source Sans 3"/>
              </a:rPr>
              <a:t>FAQ accordion · CSS grid animacija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824728"/>
            <a:ext cx="91440" cy="91440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74243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0E1F"/>
                </a:solidFill>
                <a:latin typeface="Source Sans 3"/>
              </a:rPr>
              <a:t>Service kartice · hover efekti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5824728"/>
            <a:ext cx="91440" cy="91440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6200" y="574243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0E1F"/>
                </a:solidFill>
                <a:latin typeface="Source Sans 3"/>
              </a:rPr>
              <a:t>Team kartice · portrait gradijent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6172200"/>
            <a:ext cx="91440" cy="91440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608990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0E1F"/>
                </a:solidFill>
                <a:latin typeface="Source Sans 3"/>
              </a:rPr>
              <a:t>Contact forma · Google Maps embed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03320" y="6172200"/>
            <a:ext cx="91440" cy="91440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86200" y="608990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0E1F"/>
                </a:solidFill>
                <a:latin typeface="Source Sans 3"/>
              </a:rPr>
              <a:t>CTA band · gradijent + shadow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1554480"/>
            <a:ext cx="4663440" cy="5029200"/>
          </a:xfrm>
          <a:prstGeom prst="rect">
            <a:avLst/>
          </a:prstGeom>
          <a:solidFill>
            <a:srgbClr val="FDF7FB"/>
          </a:solidFill>
          <a:ln w="12700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3840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E568F"/>
                </a:solidFill>
                <a:latin typeface="Source Sans 3"/>
              </a:rPr>
              <a:t>[ Dizajn screenshot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0256B"/>
            </a:gs>
            <a:gs pos="100000">
              <a:srgbClr val="8E568F"/>
            </a:gs>
          </a:gsLst>
          <a:lin scaled="0" ang="14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BF1F6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029200"/>
            <a:ext cx="2743200" cy="2743200"/>
          </a:xfrm>
          <a:prstGeom prst="ellipse">
            <a:avLst/>
          </a:prstGeom>
          <a:solidFill>
            <a:srgbClr val="3E1455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548640"/>
            <a:ext cx="1421892" cy="292608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ource Sans 3"/>
              </a:rPr>
              <a:t>SADRŽAJ SAJTA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Roboto"/>
              </a:rPr>
              <a:t>Stranice koje grade
poverenje pacijentkinja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77440"/>
            <a:ext cx="1097280" cy="36576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743200"/>
            <a:ext cx="2651760" cy="35661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2651760" cy="54864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9077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Roboto"/>
              </a:rPr>
              <a:t>O nama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8" y="3547872"/>
            <a:ext cx="109728" cy="109728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34564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20+ godina iskustva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4114800"/>
            <a:ext cx="109728" cy="109728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4023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Priča ordinacije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" y="4681728"/>
            <a:ext cx="109728" cy="109728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45902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Statistike &amp; vrednosti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0168" y="2743200"/>
            <a:ext cx="2651760" cy="35661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0168" y="2743200"/>
            <a:ext cx="2651760" cy="54864"/>
          </a:xfrm>
          <a:prstGeom prst="rect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29077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Roboto"/>
              </a:rPr>
              <a:t>Naš tim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1336" y="3547872"/>
            <a:ext cx="109728" cy="109728"/>
          </a:xfrm>
          <a:prstGeom prst="rect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2" y="34564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2 osnivača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31336" y="4114800"/>
            <a:ext cx="109728" cy="109728"/>
          </a:xfrm>
          <a:prstGeom prst="rect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0792" y="4023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7 specijalista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31336" y="4681728"/>
            <a:ext cx="109728" cy="109728"/>
          </a:xfrm>
          <a:prstGeom prst="rect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0792" y="45902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4 med. sestre + saradnici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3096" y="2743200"/>
            <a:ext cx="2651760" cy="35661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83096" y="2743200"/>
            <a:ext cx="2651760" cy="54864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4264" y="29077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Roboto"/>
              </a:rPr>
              <a:t>Usluge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84264" y="3547872"/>
            <a:ext cx="109728" cy="109728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4564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6 oblasti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84264" y="4114800"/>
            <a:ext cx="109728" cy="109728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4023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Opisi + cene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84264" y="4681728"/>
            <a:ext cx="109728" cy="109728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5902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Direktno zakazivanje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36024" y="2743200"/>
            <a:ext cx="2651760" cy="35661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36024" y="2743200"/>
            <a:ext cx="2651760" cy="54864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7192" y="29077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Roboto"/>
              </a:rPr>
              <a:t>Kontakt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37192" y="3547872"/>
            <a:ext cx="109728" cy="109728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6648" y="34564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Forma za upit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37192" y="4114800"/>
            <a:ext cx="109728" cy="109728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6648" y="4023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Google Maps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37192" y="4681728"/>
            <a:ext cx="109728" cy="109728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45902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Radno vreme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53212"/>
            <a:ext cx="182880" cy="20116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4754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F1F6F"/>
                </a:solidFill>
                <a:latin typeface="Source Sans 3"/>
              </a:rPr>
              <a:t>TEHNOLOGIJE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0256B"/>
                </a:solidFill>
                <a:latin typeface="Roboto"/>
              </a:rPr>
              <a:t>Tehnički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914400" cy="32004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3566160" cy="50292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039111"/>
            <a:ext cx="347472" cy="347472"/>
          </a:xfrm>
          <a:prstGeom prst="ellipse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03911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React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46887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F68"/>
                </a:solidFill>
                <a:latin typeface="Source Sans 3"/>
              </a:rPr>
              <a:t>Frontend SPA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1" y="1874519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1" y="1874519"/>
            <a:ext cx="3566160" cy="50292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09159" y="2039111"/>
            <a:ext cx="347472" cy="347472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3" y="203911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Vite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3" y="246887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F68"/>
                </a:solidFill>
                <a:latin typeface="Source Sans 3"/>
              </a:rPr>
              <a:t>Ultra-brz dev &amp; build alat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0182" y="1874519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0182" y="1874519"/>
            <a:ext cx="3566160" cy="50292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31350" y="2039111"/>
            <a:ext cx="347472" cy="347472"/>
          </a:xfrm>
          <a:prstGeom prst="ellipse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4" y="203911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React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4" y="246887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F68"/>
                </a:solidFill>
                <a:latin typeface="Source Sans 3"/>
              </a:rPr>
              <a:t>6 ruta, bez page reload-a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83279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383279"/>
            <a:ext cx="3566160" cy="50292"/>
          </a:xfrm>
          <a:prstGeom prst="rect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" y="3547871"/>
            <a:ext cx="347472" cy="347472"/>
          </a:xfrm>
          <a:prstGeom prst="ellipse">
            <a:avLst/>
          </a:prstGeom>
          <a:solidFill>
            <a:srgbClr val="8E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9032" y="354787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Context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397763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F68"/>
                </a:solidFill>
                <a:latin typeface="Source Sans 3"/>
              </a:rPr>
              <a:t>Globalni state (booking modal)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1" y="3383279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07991" y="3383279"/>
            <a:ext cx="3566160" cy="50292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09159" y="3547871"/>
            <a:ext cx="347472" cy="347472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21223" y="354787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CSS Custom Props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1223" y="397763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F68"/>
                </a:solidFill>
                <a:latin typeface="Source Sans 3"/>
              </a:rPr>
              <a:t>Kompletan dizajn sistem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30182" y="3383279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30182" y="3383279"/>
            <a:ext cx="3566160" cy="50292"/>
          </a:xfrm>
          <a:prstGeom prst="rect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31350" y="3547871"/>
            <a:ext cx="347472" cy="347472"/>
          </a:xfrm>
          <a:prstGeom prst="ellipse">
            <a:avLst/>
          </a:prstGeom>
          <a:solidFill>
            <a:srgbClr val="50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3414" y="354787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256B"/>
                </a:solidFill>
                <a:latin typeface="Roboto"/>
              </a:rPr>
              <a:t>Google Maps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4" y="397763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4F68"/>
                </a:solidFill>
                <a:latin typeface="Source Sans 3"/>
              </a:rPr>
              <a:t>Embed bez API ključa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0256B"/>
            </a:gs>
            <a:gs pos="100000">
              <a:srgbClr val="BF1F6F"/>
            </a:gs>
          </a:gsLst>
          <a:lin scaled="0" ang="138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731520"/>
            <a:ext cx="4572000" cy="4572000"/>
          </a:xfrm>
          <a:prstGeom prst="ellipse">
            <a:avLst/>
          </a:prstGeom>
          <a:solidFill>
            <a:srgbClr val="6A2F85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BF1F6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594360"/>
            <a:ext cx="955548" cy="292608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ource Sans 3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Roboto"/>
              </a:rPr>
              <a:t>Kako idemo dalje?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10512"/>
            <a:ext cx="1097280" cy="36576"/>
          </a:xfrm>
          <a:prstGeom prst="rect">
            <a:avLst/>
          </a:prstGeom>
          <a:solidFill>
            <a:srgbClr val="F7D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57800" cy="1645920"/>
          </a:xfrm>
          <a:prstGeom prst="rect">
            <a:avLst/>
          </a:prstGeom>
          <a:solidFill>
            <a:srgbClr val="3E1452"/>
          </a:solidFill>
          <a:ln w="12700">
            <a:solidFill>
              <a:srgbClr val="8A4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548640" cy="548640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Roboto"/>
              </a:rPr>
              <a:t>Domena &amp;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108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Postavljanje na raovic.rs, SSL, CDN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331720"/>
            <a:ext cx="5257800" cy="1645920"/>
          </a:xfrm>
          <a:prstGeom prst="rect">
            <a:avLst/>
          </a:prstGeom>
          <a:solidFill>
            <a:srgbClr val="3E1452"/>
          </a:solidFill>
          <a:ln w="12700">
            <a:solidFill>
              <a:srgbClr val="8A4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2880360"/>
            <a:ext cx="548640" cy="548640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Roboto"/>
              </a:rPr>
              <a:t>Fotografije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108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Profesionalne slike doktora i ordinacije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51960"/>
            <a:ext cx="5257800" cy="1645920"/>
          </a:xfrm>
          <a:prstGeom prst="rect">
            <a:avLst/>
          </a:prstGeom>
          <a:solidFill>
            <a:srgbClr val="3E1452"/>
          </a:solidFill>
          <a:ln w="12700">
            <a:solidFill>
              <a:srgbClr val="8A4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800600"/>
            <a:ext cx="548640" cy="548640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526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Roboto"/>
              </a:rPr>
              <a:t>Backend zakazivanja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0292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Stvarna integracija termina i notifikacija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251960"/>
            <a:ext cx="5257800" cy="1645920"/>
          </a:xfrm>
          <a:prstGeom prst="rect">
            <a:avLst/>
          </a:prstGeom>
          <a:solidFill>
            <a:srgbClr val="3E1452"/>
          </a:solidFill>
          <a:ln w="12700">
            <a:solidFill>
              <a:srgbClr val="8A4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0" y="4800600"/>
            <a:ext cx="548640" cy="548640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526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Roboto"/>
              </a:rPr>
              <a:t>SEO &amp;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0292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DEEF"/>
                </a:solidFill>
                <a:latin typeface="Source Sans 3"/>
              </a:rPr>
              <a:t>Google Analytics 4, lokalni SEO, meta tagovi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0256B"/>
            </a:gs>
            <a:gs pos="100000">
              <a:srgbClr val="8E568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BF1F6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0"/>
            <a:ext cx="3474720" cy="3474720"/>
          </a:xfrm>
          <a:prstGeom prst="ellipse">
            <a:avLst/>
          </a:prstGeom>
          <a:solidFill>
            <a:srgbClr val="8E568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3E1455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11680"/>
            <a:ext cx="1577340" cy="292608"/>
          </a:xfrm>
          <a:prstGeom prst="ellipse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ource Sans 3"/>
              </a:rPr>
              <a:t>HVALA NA PAŽNJI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Roboto"/>
              </a:rPr>
              <a:t>Ordinacija Raović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566160"/>
            <a:ext cx="2286000" cy="45720"/>
          </a:xfrm>
          <a:prstGeom prst="rect">
            <a:avLst/>
          </a:prstGeom>
          <a:solidFill>
            <a:srgbClr val="BF1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DEEF"/>
                </a:solidFill>
                <a:latin typeface="Source Sans 3"/>
              </a:rPr>
              <a:t>Ginekološka ordinacija · Beograd, Vračar · raovic.rs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63440"/>
            <a:ext cx="3108960" cy="8229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365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F1F6F"/>
                </a:solidFill>
                <a:latin typeface="Source Sans 3"/>
              </a:rPr>
              <a:t>ADRESA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3"/>
              </a:rPr>
              <a:t>Golsvordijeva 6, Vračar, Beograd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4663440"/>
            <a:ext cx="3108960" cy="8229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7365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F1F6F"/>
                </a:solidFill>
                <a:latin typeface="Source Sans 3"/>
              </a:rPr>
              <a:t>TELEFON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3"/>
              </a:rPr>
              <a:t>011 244 77 63 / 063 687 889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80" y="4663440"/>
            <a:ext cx="3108960" cy="822960"/>
          </a:xfrm>
          <a:prstGeom prst="rect">
            <a:avLst/>
          </a:prstGeom>
          <a:solidFill>
            <a:srgbClr val="3E1452"/>
          </a:solidFill>
          <a:ln w="12700">
            <a:solidFill>
              <a:srgbClr val="7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7365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F1F6F"/>
                </a:solidFill>
                <a:latin typeface="Source Sans 3"/>
              </a:rPr>
              <a:t>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3"/>
              </a:rPr>
              <a:t>raovic.rs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